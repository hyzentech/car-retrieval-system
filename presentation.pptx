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42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01775"/>
            <a:ext cx="7772400" cy="1470025"/>
          </a:xfrm>
        </p:spPr>
        <p:txBody>
          <a:bodyPr/>
          <a:lstStyle/>
          <a:p>
            <a:pPr>
              <a:defRPr sz="5400" b="1">
                <a:solidFill>
                  <a:srgbClr val="CB4B16"/>
                </a:solidFill>
              </a:defRPr>
            </a:pPr>
            <a:r>
              <a:rPr dirty="0"/>
              <a:t>Car Retrieval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71800"/>
            <a:ext cx="6400800" cy="1752600"/>
          </a:xfrm>
        </p:spPr>
        <p:txBody>
          <a:bodyPr>
            <a:normAutofit fontScale="92500"/>
          </a:bodyPr>
          <a:lstStyle/>
          <a:p>
            <a:pPr>
              <a:defRPr sz="2800">
                <a:solidFill>
                  <a:srgbClr val="586E75"/>
                </a:solidFill>
              </a:defRPr>
            </a:pPr>
            <a:r>
              <a:rPr dirty="0"/>
              <a:t>An End-to-End Deep Learning Approach for</a:t>
            </a:r>
          </a:p>
          <a:p>
            <a:r>
              <a:rPr dirty="0"/>
              <a:t>Indonesian Vehicle Detection and Classification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B58900"/>
                </a:solidFill>
              </a:defRPr>
            </a:pPr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spcAft>
                <a:spcPts val="2000"/>
              </a:spcAft>
              <a:defRPr sz="2800" b="1">
                <a:solidFill>
                  <a:srgbClr val="268BD2"/>
                </a:solidFill>
              </a:defRPr>
            </a:pPr>
            <a:r>
              <a:t>Measurements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Detect multiple car instances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Classify 8 Indonesian car types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Process traffic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spcAft>
                <a:spcPts val="2000"/>
              </a:spcAft>
              <a:defRPr sz="2800" b="1">
                <a:solidFill>
                  <a:srgbClr val="268BD2"/>
                </a:solidFill>
              </a:defRPr>
            </a:pPr>
            <a:r>
              <a:t>Constraints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Use Deep Learning (PyTorch)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Real-time capability desirable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Robust to varied visual conditions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B58900"/>
                </a:solidFill>
              </a:defRPr>
            </a:pPr>
            <a:r>
              <a:t>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6032" y="3200400"/>
            <a:ext cx="1572768" cy="1143000"/>
          </a:xfrm>
          <a:prstGeom prst="roundRect">
            <a:avLst/>
          </a:prstGeom>
          <a:solidFill>
            <a:srgbClr val="93A1A1"/>
          </a:solidFill>
          <a:ln>
            <a:solidFill>
              <a:srgbClr val="586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rPr dirty="0"/>
              <a:t>Input</a:t>
            </a:r>
            <a:br>
              <a:rPr dirty="0"/>
            </a:br>
            <a:r>
              <a:rPr dirty="0"/>
              <a:t>Video/Image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874520" y="3657600"/>
            <a:ext cx="182880" cy="182880"/>
          </a:xfrm>
          <a:prstGeom prst="rightArrow">
            <a:avLst/>
          </a:prstGeom>
          <a:solidFill>
            <a:srgbClr val="CB4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103120" y="3200400"/>
            <a:ext cx="1463040" cy="1097280"/>
          </a:xfrm>
          <a:prstGeom prst="roundRect">
            <a:avLst/>
          </a:prstGeom>
          <a:solidFill>
            <a:srgbClr val="268BD2"/>
          </a:solidFill>
          <a:ln>
            <a:solidFill>
              <a:srgbClr val="586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  <a:p>
            <a:pPr algn="ctr">
              <a:defRPr b="1">
                <a:solidFill>
                  <a:srgbClr val="FFFFFF"/>
                </a:solidFill>
              </a:defRPr>
            </a:pPr>
            <a:r>
              <a:t>YOLOv8</a:t>
            </a:r>
            <a:br/>
            <a:r>
              <a:t>Detector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611880" y="3657600"/>
            <a:ext cx="182880" cy="182880"/>
          </a:xfrm>
          <a:prstGeom prst="rightArrow">
            <a:avLst/>
          </a:prstGeom>
          <a:solidFill>
            <a:srgbClr val="CB4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40480" y="3200400"/>
            <a:ext cx="1463040" cy="1097280"/>
          </a:xfrm>
          <a:prstGeom prst="roundRect">
            <a:avLst/>
          </a:prstGeom>
          <a:solidFill>
            <a:srgbClr val="93A1A1"/>
          </a:solidFill>
          <a:ln>
            <a:solidFill>
              <a:srgbClr val="586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  <a:p>
            <a:pPr algn="ctr">
              <a:defRPr b="1">
                <a:solidFill>
                  <a:srgbClr val="FFFFFF"/>
                </a:solidFill>
              </a:defRPr>
            </a:pPr>
            <a:r>
              <a:t>Crop</a:t>
            </a:r>
            <a:br/>
            <a:r>
              <a:t>Regions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49240" y="3657600"/>
            <a:ext cx="182880" cy="182880"/>
          </a:xfrm>
          <a:prstGeom prst="rightArrow">
            <a:avLst/>
          </a:prstGeom>
          <a:solidFill>
            <a:srgbClr val="CB4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577840" y="3200400"/>
            <a:ext cx="1463040" cy="1097280"/>
          </a:xfrm>
          <a:prstGeom prst="roundRect">
            <a:avLst/>
          </a:prstGeom>
          <a:solidFill>
            <a:srgbClr val="268BD2"/>
          </a:solidFill>
          <a:ln>
            <a:solidFill>
              <a:srgbClr val="586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  <a:p>
            <a:pPr algn="ctr">
              <a:defRPr b="1">
                <a:solidFill>
                  <a:srgbClr val="FFFFFF"/>
                </a:solidFill>
              </a:defRPr>
            </a:pPr>
            <a:r>
              <a:t>ResNet50</a:t>
            </a:r>
            <a:br/>
            <a:r>
              <a:t>Classifier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600" y="3657600"/>
            <a:ext cx="182880" cy="182880"/>
          </a:xfrm>
          <a:prstGeom prst="rightArrow">
            <a:avLst/>
          </a:prstGeom>
          <a:solidFill>
            <a:srgbClr val="CB4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0" y="3200400"/>
            <a:ext cx="1673352" cy="1097280"/>
          </a:xfrm>
          <a:prstGeom prst="roundRect">
            <a:avLst/>
          </a:prstGeom>
          <a:solidFill>
            <a:srgbClr val="859900"/>
          </a:solidFill>
          <a:ln>
            <a:solidFill>
              <a:srgbClr val="586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rPr dirty="0"/>
              <a:t>Output</a:t>
            </a:r>
            <a:br>
              <a:rPr dirty="0"/>
            </a:br>
            <a:r>
              <a:rPr dirty="0" err="1"/>
              <a:t>Annnotations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B58900"/>
                </a:solidFill>
              </a:defRPr>
            </a:pPr>
            <a:r>
              <a:t>Dataset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33682"/>
                </a:solidFill>
              </a:defRPr>
            </a:pPr>
            <a:r>
              <a:rPr dirty="0"/>
              <a:t>17,171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rPr dirty="0"/>
              <a:t>Total Images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60604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33682"/>
                </a:solidFill>
              </a:defRPr>
            </a:pPr>
            <a:r>
              <a:rPr dirty="0"/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rPr dirty="0"/>
              <a:t>Car 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18888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84632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33682"/>
                </a:solidFill>
              </a:defRPr>
            </a:pPr>
            <a:r>
              <a:rPr dirty="0"/>
              <a:t>13,542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8324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rPr dirty="0"/>
              <a:t>Train Samples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08876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49440" y="2532888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33682"/>
                </a:solidFill>
              </a:defRPr>
            </a:pPr>
            <a:r>
              <a:rPr dirty="0"/>
              <a:t>1,756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1444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rPr dirty="0"/>
              <a:t>Test Samples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B58900"/>
                </a:solidFill>
              </a:defRPr>
            </a:pPr>
            <a:r>
              <a:t>Technical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2000"/>
              </a:spcAft>
              <a:defRPr sz="2400">
                <a:solidFill>
                  <a:srgbClr val="657B83"/>
                </a:solidFill>
              </a:defRPr>
            </a:pPr>
            <a:r>
              <a:t>Detector: YOLOv8-nano (COCO pretrained)</a:t>
            </a:r>
          </a:p>
          <a:p>
            <a:pPr>
              <a:spcAft>
                <a:spcPts val="2000"/>
              </a:spcAft>
              <a:defRPr sz="2400">
                <a:solidFill>
                  <a:srgbClr val="657B83"/>
                </a:solidFill>
              </a:defRPr>
            </a:pPr>
            <a:r>
              <a:t>Classifier: ResNet50 (ImageNet pretrained)</a:t>
            </a:r>
          </a:p>
          <a:p>
            <a:pPr>
              <a:spcAft>
                <a:spcPts val="2000"/>
              </a:spcAft>
              <a:defRPr sz="2400">
                <a:solidFill>
                  <a:srgbClr val="657B83"/>
                </a:solidFill>
              </a:defRPr>
            </a:pPr>
            <a:r>
              <a:t>Optimizer: AdamW (LR: 1e-4) + Cosine Annealing</a:t>
            </a:r>
          </a:p>
          <a:p>
            <a:pPr>
              <a:spcAft>
                <a:spcPts val="2000"/>
              </a:spcAft>
              <a:defRPr sz="2400">
                <a:solidFill>
                  <a:srgbClr val="657B83"/>
                </a:solidFill>
              </a:defRPr>
            </a:pPr>
            <a:r>
              <a:t>Augmentation: RandomCrop, ColorJitter, Rotation</a:t>
            </a:r>
          </a:p>
          <a:p>
            <a:pPr>
              <a:spcAft>
                <a:spcPts val="2000"/>
              </a:spcAft>
              <a:defRPr sz="2400">
                <a:solidFill>
                  <a:srgbClr val="657B83"/>
                </a:solidFill>
              </a:defRPr>
            </a:pPr>
            <a:r>
              <a:t>Loss: CrossEntropy with Label Smoothing (0.1)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B58900"/>
                </a:solidFill>
              </a:defRPr>
            </a:pPr>
            <a:r>
              <a:t>Performance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33682"/>
                </a:solidFill>
              </a:defRPr>
            </a:pPr>
            <a:r>
              <a:rPr dirty="0"/>
              <a:t>86.33%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3054096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rPr dirty="0"/>
              <a:t>Test Accuracy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2286001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468880" y="2542032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33682"/>
                </a:solidFill>
              </a:defRPr>
            </a:pPr>
            <a:r>
              <a:rPr dirty="0"/>
              <a:t>86.53%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3054096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rPr dirty="0"/>
              <a:t>Precision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2286001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0916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33682"/>
                </a:solidFill>
              </a:defRPr>
            </a:pPr>
            <a:r>
              <a:rPr dirty="0"/>
              <a:t>86.34%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054096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rPr dirty="0"/>
              <a:t>F1-Score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286001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6949440" y="2519173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33682"/>
                </a:solidFill>
              </a:defRPr>
            </a:pPr>
            <a:r>
              <a:rPr dirty="0"/>
              <a:t>13.6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rPr dirty="0"/>
              <a:t>Video FPS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B58900"/>
                </a:solidFill>
              </a:defRPr>
            </a:pPr>
            <a:r>
              <a:t>Confusion Matrix Analysis</a:t>
            </a:r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439" y="1828800"/>
            <a:ext cx="8117121" cy="30970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399" y="5212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ctr">
              <a:defRPr sz="1600">
                <a:solidFill>
                  <a:srgbClr val="586E75"/>
                </a:solidFill>
              </a:defRPr>
            </a:pPr>
            <a:r>
              <a:t>Diagonal dominance indicates strong performance. Confusion visible between Crossover/MPV.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B58900"/>
                </a:solidFill>
              </a:defRPr>
            </a:pPr>
            <a:r>
              <a:t>Per-Class Performance Metrics</a:t>
            </a:r>
          </a:p>
        </p:txBody>
      </p:sp>
      <p:pic>
        <p:nvPicPr>
          <p:cNvPr id="3" name="Picture 2" descr="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89" y="1828800"/>
            <a:ext cx="8341822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ctr">
              <a:defRPr sz="1600">
                <a:solidFill>
                  <a:srgbClr val="586E75"/>
                </a:solidFill>
              </a:defRPr>
            </a:pPr>
            <a:r>
              <a:t>Pickup and Truck achieve highest F1-scores (&gt;0.90). Crossover is lowest (0.83).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B58900"/>
                </a:solidFill>
              </a:defRPr>
            </a:pPr>
            <a:r>
              <a:t>Video Inference Statistics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9184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9184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33682"/>
                </a:solidFill>
              </a:defRPr>
            </a:pPr>
            <a:r>
              <a:rPr dirty="0"/>
              <a:t>2,960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rPr dirty="0"/>
              <a:t>Frames Processed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42032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33682"/>
                </a:solidFill>
              </a:defRPr>
            </a:pPr>
            <a:r>
              <a:rPr dirty="0"/>
              <a:t>73.7ms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2032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rPr dirty="0"/>
              <a:t>Latency/Frame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9744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09744" y="2523744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33682"/>
                </a:solidFill>
              </a:defRPr>
            </a:pPr>
            <a:r>
              <a:rPr dirty="0"/>
              <a:t>14,107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9744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rPr dirty="0"/>
              <a:t>Detections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22592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22592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33682"/>
                </a:solidFill>
              </a:defRPr>
            </a:pPr>
            <a:r>
              <a:rPr dirty="0"/>
              <a:t>197s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2592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rPr dirty="0"/>
              <a:t>Duration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B58900"/>
                </a:solidFill>
              </a:defRPr>
            </a:pPr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spcAft>
                <a:spcPts val="2000"/>
              </a:spcAft>
              <a:defRPr sz="2800" b="1">
                <a:solidFill>
                  <a:srgbClr val="268BD2"/>
                </a:solidFill>
              </a:defRPr>
            </a:pPr>
            <a:r>
              <a:t>Key Achievements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Successful 2-stage pipeline integration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Reliable classification (86%+ accuracy)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Real-time viable processing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>
              <a:spcAft>
                <a:spcPts val="2000"/>
              </a:spcAft>
              <a:defRPr sz="2800" b="1">
                <a:solidFill>
                  <a:srgbClr val="268BD2"/>
                </a:solidFill>
              </a:defRPr>
            </a:pPr>
            <a:r>
              <a:t>Future Improvements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Adopt Vision Transformers (ViT)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Expand dataset for rare classes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Optimize for Edge Devices (TensorRT)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236</Words>
  <Application>Microsoft Office PowerPoint</Application>
  <PresentationFormat>On-screen Show (4:3)</PresentationFormat>
  <Paragraphs>74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Car Retrieval System</vt:lpstr>
      <vt:lpstr>Problem Statement</vt:lpstr>
      <vt:lpstr>System Architecture</vt:lpstr>
      <vt:lpstr>Dataset Overview</vt:lpstr>
      <vt:lpstr>Technical Implementation</vt:lpstr>
      <vt:lpstr>Performance Summary</vt:lpstr>
      <vt:lpstr>Confusion Matrix Analysis</vt:lpstr>
      <vt:lpstr>Per-Class Performance Metrics</vt:lpstr>
      <vt:lpstr>Video Inference Statistics</vt:lpstr>
      <vt:lpstr>Conclusion &amp; Future Work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Muhammad Hafiz</cp:lastModifiedBy>
  <cp:revision>2</cp:revision>
  <dcterms:created xsi:type="dcterms:W3CDTF">2013-01-27T09:14:16Z</dcterms:created>
  <dcterms:modified xsi:type="dcterms:W3CDTF">2026-01-17T09:42:11Z</dcterms:modified>
  <cp:category/>
</cp:coreProperties>
</file>