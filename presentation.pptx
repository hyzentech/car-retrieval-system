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CB4B16"/>
                </a:solidFill>
              </a:defRPr>
            </a:pPr>
            <a:r>
              <a:t>Car Retrieval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800">
                <a:solidFill>
                  <a:srgbClr val="586E75"/>
                </a:solidFill>
              </a:defRPr>
            </a:pPr>
            <a:r>
              <a:t>An End-to-End Deep Learning Approach for</a:t>
            </a:r>
          </a:p>
          <a:p>
            <a:r>
              <a:t>Indonesian Vehicle Detection and Classification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000"/>
              </a:spcAft>
              <a:defRPr b="1" sz="2800">
                <a:solidFill>
                  <a:srgbClr val="268BD2"/>
                </a:solidFill>
              </a:defRPr>
            </a:pPr>
            <a:r>
              <a:t>Measurements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Detect multiple car instances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Classify 8 Indonesian car types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Process traffic video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000"/>
              </a:spcAft>
              <a:defRPr b="1" sz="2800">
                <a:solidFill>
                  <a:srgbClr val="268BD2"/>
                </a:solidFill>
              </a:defRPr>
            </a:pPr>
            <a:r>
              <a:t>Constraints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Use Deep Learning (PyTorch)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Real-time capability desirable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Robust to varied visual conditions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System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3200400"/>
            <a:ext cx="1463040" cy="1097280"/>
          </a:xfrm>
          <a:prstGeom prst="roundRect">
            <a:avLst/>
          </a:prstGeom>
          <a:solidFill>
            <a:srgbClr val="93A1A1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Input</a:t>
            </a:r>
            <a:br/>
            <a:r>
              <a:t>Video/Image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187452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103120" y="3200400"/>
            <a:ext cx="1463040" cy="1097280"/>
          </a:xfrm>
          <a:prstGeom prst="roundRect">
            <a:avLst/>
          </a:prstGeom>
          <a:solidFill>
            <a:srgbClr val="268BD2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YOLOv8</a:t>
            </a:r>
            <a:br/>
            <a:r>
              <a:t>Detector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61188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840480" y="3200400"/>
            <a:ext cx="1463040" cy="1097280"/>
          </a:xfrm>
          <a:prstGeom prst="roundRect">
            <a:avLst/>
          </a:prstGeom>
          <a:solidFill>
            <a:srgbClr val="93A1A1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Crop</a:t>
            </a:r>
            <a:br/>
            <a:r>
              <a:t>Regions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4924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77840" y="3200400"/>
            <a:ext cx="1463040" cy="1097280"/>
          </a:xfrm>
          <a:prstGeom prst="roundRect">
            <a:avLst/>
          </a:prstGeom>
          <a:solidFill>
            <a:srgbClr val="268BD2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ResNet50</a:t>
            </a:r>
            <a:br/>
            <a:r>
              <a:t>Classifier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6600" y="3657600"/>
            <a:ext cx="182880" cy="182880"/>
          </a:xfrm>
          <a:prstGeom prst="rightArrow">
            <a:avLst/>
          </a:prstGeom>
          <a:solidFill>
            <a:srgbClr val="CB4B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0" y="3200400"/>
            <a:ext cx="1463040" cy="1097280"/>
          </a:xfrm>
          <a:prstGeom prst="roundRect">
            <a:avLst/>
          </a:prstGeom>
          <a:solidFill>
            <a:srgbClr val="859900"/>
          </a:solidFill>
          <a:ln>
            <a:solidFill>
              <a:srgbClr val="586E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  <a:p>
            <a:pPr algn="ctr">
              <a:defRPr b="1">
                <a:solidFill>
                  <a:srgbClr val="FFFFFF"/>
                </a:solidFill>
              </a:defRPr>
            </a:pPr>
            <a:r>
              <a:t>Output</a:t>
            </a:r>
            <a:br/>
            <a:r>
              <a:t>Annnotations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Dataset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17,171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Total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Car Types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13,542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Train Samples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1,756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Test Samples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Technical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Detector: YOLOv8-nano (COCO pretrained)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Classifier: ResNet50 (ImageNet pretrained)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Optimizer: AdamW (LR: 1e-4) + Cosine Annealing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Augmentation: RandomCrop, ColorJitter, Rotation</a:t>
            </a:r>
          </a:p>
          <a:p>
            <a:pPr>
              <a:spcAft>
                <a:spcPts val="2000"/>
              </a:spcAft>
              <a:defRPr sz="2400">
                <a:solidFill>
                  <a:srgbClr val="657B83"/>
                </a:solidFill>
              </a:defRPr>
            </a:pPr>
            <a:r>
              <a:t>Loss: CrossEntropy with Label Smoothing (0.1)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Performance Summary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86.33%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Test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86.53%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Precision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86.34%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F1-Score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13.6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Video FPS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B58900"/>
                </a:solidFill>
              </a:defRPr>
            </a:pPr>
            <a:r>
              <a:t>Confusion Matrix Analysis</a:t>
            </a:r>
          </a:p>
        </p:txBody>
      </p:sp>
      <p:pic>
        <p:nvPicPr>
          <p:cNvPr id="3" name="Picture 2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20209" y="1828800"/>
            <a:ext cx="10784419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600">
                <a:solidFill>
                  <a:srgbClr val="586E75"/>
                </a:solidFill>
              </a:defRPr>
            </a:pPr>
            <a:r>
              <a:t>Diagonal dominance indicates strong performance. Confusion visible between Crossover/MPV.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>
                <a:solidFill>
                  <a:srgbClr val="B58900"/>
                </a:solidFill>
              </a:defRPr>
            </a:pPr>
            <a:r>
              <a:t>Per-Class Performance Metrics</a:t>
            </a:r>
          </a:p>
        </p:txBody>
      </p:sp>
      <p:pic>
        <p:nvPicPr>
          <p:cNvPr id="3" name="Picture 2" descr="per_class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89" y="1828800"/>
            <a:ext cx="8341822" cy="4114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03504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1600">
                <a:solidFill>
                  <a:srgbClr val="586E75"/>
                </a:solidFill>
              </a:defRPr>
            </a:pPr>
            <a:r>
              <a:t>Pickup and Truck achieve highest F1-scores (&gt;0.90). Crossover is lowest (0.83).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Video Inference Statistics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2,960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Frames Processed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73.7ms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Latency/Frame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14,107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Detections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78040" y="2286000"/>
            <a:ext cx="2011680" cy="1371600"/>
          </a:xfrm>
          <a:prstGeom prst="roundRect">
            <a:avLst/>
          </a:prstGeom>
          <a:solidFill>
            <a:srgbClr val="EEE8D5"/>
          </a:solidFill>
          <a:ln>
            <a:solidFill>
              <a:srgbClr val="93A1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2514600"/>
            <a:ext cx="2011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200">
                <a:solidFill>
                  <a:srgbClr val="D33682"/>
                </a:solidFill>
              </a:defRPr>
            </a:pPr>
            <a:r>
              <a:t>197s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3063240"/>
            <a:ext cx="2011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586E75"/>
                </a:solidFill>
              </a:defRPr>
            </a:pPr>
            <a:r>
              <a:t>Duration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>
                <a:solidFill>
                  <a:srgbClr val="B58900"/>
                </a:solidFill>
              </a:defRPr>
            </a:pPr>
            <a:r>
              <a:t>Conclusion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000"/>
              </a:spcAft>
              <a:defRPr b="1" sz="2800">
                <a:solidFill>
                  <a:srgbClr val="268BD2"/>
                </a:solidFill>
              </a:defRPr>
            </a:pPr>
            <a:r>
              <a:t>Key Achievements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Successful 2-stage pipeline integration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Reliable classification (86%+ accuracy)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Real-time viable processing speed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2000"/>
              </a:spcAft>
              <a:defRPr b="1" sz="2800">
                <a:solidFill>
                  <a:srgbClr val="268BD2"/>
                </a:solidFill>
              </a:defRPr>
            </a:pPr>
            <a:r>
              <a:t>Future Improvements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Adopt Vision Transformers (ViT)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Expand dataset for rare classes</a:t>
            </a:r>
          </a:p>
          <a:p>
            <a:pPr>
              <a:spcAft>
                <a:spcPts val="1000"/>
              </a:spcAft>
              <a:defRPr sz="2000">
                <a:solidFill>
                  <a:srgbClr val="657B83"/>
                </a:solidFill>
              </a:defRPr>
            </a:pPr>
            <a:r>
              <a:t>• Optimize for Edge Devices (TensorRT)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